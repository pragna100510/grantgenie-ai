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4" r:id="rId5"/>
    <p:sldId id="259" r:id="rId6"/>
    <p:sldId id="260" r:id="rId7"/>
    <p:sldId id="275" r:id="rId8"/>
    <p:sldId id="264" r:id="rId9"/>
    <p:sldId id="265" r:id="rId10"/>
    <p:sldId id="276" r:id="rId11"/>
    <p:sldId id="277" r:id="rId12"/>
    <p:sldId id="278" r:id="rId13"/>
    <p:sldId id="279" r:id="rId14"/>
    <p:sldId id="280" r:id="rId15"/>
    <p:sldId id="281" r:id="rId16"/>
    <p:sldId id="266" r:id="rId17"/>
    <p:sldId id="267" r:id="rId18"/>
    <p:sldId id="268" r:id="rId19"/>
    <p:sldId id="269" r:id="rId20"/>
    <p:sldId id="272" r:id="rId21"/>
    <p:sldId id="273" r:id="rId22"/>
    <p:sldId id="270" r:id="rId23"/>
    <p:sldId id="271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b3W1nguJpyLvdkVeio7GQyZY/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63BE5B-8E01-4B91-9C5C-8479B17E1E5F}">
  <a:tblStyle styleId="{F063BE5B-8E01-4B91-9C5C-8479B17E1E5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3" d="100"/>
          <a:sy n="53" d="100"/>
        </p:scale>
        <p:origin x="1152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" name="Google Shape;9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" name="Google Shape;10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0" name="Google Shape;17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" name="Google Shape;1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gna100510/GrantGenie-A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rantgenie-ai-backend.onrender.com/docs" TargetMode="External"/><Relationship Id="rId5" Type="http://schemas.openxmlformats.org/officeDocument/2006/relationships/hyperlink" Target="https://grantgenie-ai-backend.onrender.com/" TargetMode="External"/><Relationship Id="rId4" Type="http://schemas.openxmlformats.org/officeDocument/2006/relationships/hyperlink" Target="https://grant-genie-ai-lovat.vercel.app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6600" b="1"/>
              <a:t>IBM University Engagement Project Submission</a:t>
            </a:r>
            <a:br>
              <a:rPr lang="en-US" b="1"/>
            </a:br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6" name="Google Shape;86;p2"/>
          <p:cNvGraphicFramePr/>
          <p:nvPr>
            <p:extLst>
              <p:ext uri="{D42A27DB-BD31-4B8C-83A1-F6EECF244321}">
                <p14:modId xmlns:p14="http://schemas.microsoft.com/office/powerpoint/2010/main" val="568087610"/>
              </p:ext>
            </p:extLst>
          </p:nvPr>
        </p:nvGraphicFramePr>
        <p:xfrm>
          <a:off x="1206162" y="3026889"/>
          <a:ext cx="9395000" cy="2796961"/>
        </p:xfrm>
        <a:graphic>
          <a:graphicData uri="http://schemas.openxmlformats.org/drawingml/2006/table">
            <a:tbl>
              <a:tblPr>
                <a:noFill/>
                <a:tableStyleId>{F063BE5B-8E01-4B91-9C5C-8479B17E1E5F}</a:tableStyleId>
              </a:tblPr>
              <a:tblGrid>
                <a:gridCol w="206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56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088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/>
                        <a:t>Samudrala Venkata Naga Lakshmi Chandra Pragna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/>
                        <a:t>praghna1005@gmail.com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IN" sz="1400" u="none" strike="noStrike" cap="none" dirty="0"/>
                        <a:t>7569311984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8" name="Google Shape;88;p2"/>
          <p:cNvSpPr txBox="1"/>
          <p:nvPr/>
        </p:nvSpPr>
        <p:spPr>
          <a:xfrm>
            <a:off x="1206164" y="1871110"/>
            <a:ext cx="1028025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of  Project – </a:t>
            </a:r>
            <a:r>
              <a:rPr lang="en-IN" sz="2400" dirty="0"/>
              <a:t>Entrepreneurship and Startup Ecosystem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1206162" y="551965"/>
            <a:ext cx="958117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Tile – </a:t>
            </a:r>
            <a:r>
              <a:rPr lang="en-IN" sz="2800" dirty="0" err="1"/>
              <a:t>GrantGenie</a:t>
            </a:r>
            <a:r>
              <a:rPr lang="en-IN" sz="2800" dirty="0"/>
              <a:t>-AI: Agentic AI-Based Startup Grant Recommendation and Proposal Generation System</a:t>
            </a:r>
            <a:endParaRPr sz="2800" b="1" i="0" u="none" strike="noStrike" cap="none" dirty="0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C36E0-2FA7-89D1-5278-6D6C2B32C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466" y="4411746"/>
            <a:ext cx="965123" cy="12716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/>
        </p:nvSpPr>
        <p:spPr>
          <a:xfrm>
            <a:off x="576072" y="1234440"/>
            <a:ext cx="1060704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Problem Statement : </a:t>
            </a:r>
            <a:r>
              <a:rPr lang="en-IN" sz="2400" b="1" dirty="0" err="1"/>
              <a:t>GrantGenie</a:t>
            </a:r>
            <a:r>
              <a:rPr lang="en-IN" sz="2400" b="1" dirty="0"/>
              <a:t>-AI</a:t>
            </a:r>
          </a:p>
          <a:p>
            <a:endParaRPr lang="en-IN" sz="2400" b="1" dirty="0"/>
          </a:p>
          <a:p>
            <a:r>
              <a:rPr lang="en-IN" sz="2400" b="1" dirty="0"/>
              <a:t>The Challenge</a:t>
            </a:r>
          </a:p>
          <a:p>
            <a:r>
              <a:rPr lang="en-IN" sz="2400" dirty="0"/>
              <a:t>Startups often face difficulties in finding suitable grants, understanding complex eligibility requirements, and preparing effective funding proposals. Existing approaches require manual research and lack personalized funding guidance.</a:t>
            </a:r>
          </a:p>
          <a:p>
            <a:endParaRPr lang="en-IN" sz="2400" dirty="0"/>
          </a:p>
          <a:p>
            <a:r>
              <a:rPr lang="en-IN" sz="2400" b="1" dirty="0"/>
              <a:t>The Objective</a:t>
            </a:r>
          </a:p>
          <a:p>
            <a:r>
              <a:rPr lang="en-IN" sz="2400" dirty="0"/>
              <a:t>Build an </a:t>
            </a:r>
            <a:r>
              <a:rPr lang="en-IN" sz="2400" b="1" dirty="0"/>
              <a:t>Agentic AI-powered Grant Recommendation and Proposal Generation System</a:t>
            </a:r>
            <a:r>
              <a:rPr lang="en-IN" sz="2400" dirty="0"/>
              <a:t> that:</a:t>
            </a:r>
          </a:p>
          <a:p>
            <a:endParaRPr lang="en-IN" sz="2400" dirty="0"/>
          </a:p>
          <a:p>
            <a:r>
              <a:rPr lang="en-IN" sz="2400" b="1" dirty="0"/>
              <a:t>Grant Recommendation</a:t>
            </a:r>
            <a:r>
              <a:rPr lang="en-IN" sz="2400" dirty="0"/>
              <a:t> – Suggest suitable funding opportunities based on startup profile, domain, and requirements.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4"/>
          <p:cNvSpPr txBox="1"/>
          <p:nvPr/>
        </p:nvSpPr>
        <p:spPr>
          <a:xfrm>
            <a:off x="576072" y="704088"/>
            <a:ext cx="72146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-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C5E6-4806-1092-4E4F-5BD6A63D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8B877-52B2-841A-FFAD-AFCEC5663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b="1" dirty="0"/>
              <a:t>Eligibility Verification</a:t>
            </a:r>
            <a:r>
              <a:rPr lang="en-IN" sz="2400" dirty="0"/>
              <a:t> – </a:t>
            </a:r>
            <a:r>
              <a:rPr lang="en-IN" sz="2400" dirty="0" err="1"/>
              <a:t>Analyze</a:t>
            </a:r>
            <a:r>
              <a:rPr lang="en-IN" sz="2400" dirty="0"/>
              <a:t> grant criteria and identify eligibility status and missing requirements. </a:t>
            </a:r>
          </a:p>
          <a:p>
            <a:r>
              <a:rPr lang="en-IN" sz="2400" b="1" dirty="0"/>
              <a:t>AI Proposal Generation</a:t>
            </a:r>
            <a:r>
              <a:rPr lang="en-IN" sz="2400" dirty="0"/>
              <a:t> – Generate customized funding proposals for grant applications. </a:t>
            </a:r>
          </a:p>
          <a:p>
            <a:r>
              <a:rPr lang="en-IN" sz="2400" b="1" dirty="0"/>
              <a:t>Multi-Agent System</a:t>
            </a:r>
            <a:r>
              <a:rPr lang="en-IN" sz="2400" dirty="0"/>
              <a:t> – </a:t>
            </a:r>
          </a:p>
          <a:p>
            <a:pPr lvl="1"/>
            <a:r>
              <a:rPr lang="en-IN" dirty="0"/>
              <a:t>Startup Profile Agent </a:t>
            </a:r>
          </a:p>
          <a:p>
            <a:pPr lvl="1"/>
            <a:r>
              <a:rPr lang="en-IN" dirty="0"/>
              <a:t>Grant Recommendation Agent </a:t>
            </a:r>
          </a:p>
          <a:p>
            <a:pPr lvl="1"/>
            <a:r>
              <a:rPr lang="en-IN" dirty="0"/>
              <a:t>Eligibility Verification Agent </a:t>
            </a:r>
          </a:p>
          <a:p>
            <a:pPr lvl="1"/>
            <a:r>
              <a:rPr lang="en-IN" dirty="0"/>
              <a:t>Proposal Generation Agent </a:t>
            </a:r>
          </a:p>
          <a:p>
            <a:r>
              <a:rPr lang="en-IN" sz="2400" b="1" dirty="0"/>
              <a:t>Interactive Dashboard</a:t>
            </a:r>
            <a:r>
              <a:rPr lang="en-IN" sz="2400" dirty="0"/>
              <a:t> – Visualize startup insights, grant matches, eligibility scores, and proposals.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399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/>
        </p:nvSpPr>
        <p:spPr>
          <a:xfrm>
            <a:off x="576072" y="1319639"/>
            <a:ext cx="10607040" cy="5632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dirty="0" err="1"/>
              <a:t>GrantGenie</a:t>
            </a:r>
            <a:r>
              <a:rPr lang="en-IN" sz="2400" dirty="0"/>
              <a:t>-AI is an </a:t>
            </a:r>
            <a:r>
              <a:rPr lang="en-IN" sz="2400" b="1" dirty="0"/>
              <a:t>Agentic AI-powered platform</a:t>
            </a:r>
            <a:r>
              <a:rPr lang="en-IN" sz="2400" dirty="0"/>
              <a:t> that automates the startup funding discovery and application preparation process.</a:t>
            </a:r>
          </a:p>
          <a:p>
            <a:r>
              <a:rPr lang="en-IN" sz="2400" dirty="0"/>
              <a:t>The solution uses multiple AI agents powered by </a:t>
            </a:r>
            <a:r>
              <a:rPr lang="en-IN" sz="2400" b="1" dirty="0"/>
              <a:t>IBM watsonx.ai</a:t>
            </a:r>
            <a:r>
              <a:rPr lang="en-IN" sz="2400" dirty="0"/>
              <a:t> to:</a:t>
            </a:r>
          </a:p>
          <a:p>
            <a:endParaRPr lang="en-IN" sz="2400" dirty="0"/>
          </a:p>
          <a:p>
            <a:r>
              <a:rPr lang="en-IN" sz="2400" b="1" dirty="0" err="1"/>
              <a:t>Analyze</a:t>
            </a:r>
            <a:r>
              <a:rPr lang="en-IN" sz="2400" b="1" dirty="0"/>
              <a:t> Startup Profile</a:t>
            </a:r>
            <a:r>
              <a:rPr lang="en-IN" sz="2400" dirty="0"/>
              <a:t> – Extract domain, technology, stage, and funding requirements from user input. </a:t>
            </a:r>
          </a:p>
          <a:p>
            <a:r>
              <a:rPr lang="en-IN" sz="2400" b="1" dirty="0"/>
              <a:t>Recommend Suitable Grants</a:t>
            </a:r>
            <a:r>
              <a:rPr lang="en-IN" sz="2400" dirty="0"/>
              <a:t> – Identify and rank funding opportunities based on startup characteristics. </a:t>
            </a:r>
          </a:p>
          <a:p>
            <a:r>
              <a:rPr lang="en-IN" sz="2400" b="1" dirty="0"/>
              <a:t>Verify Eligibility</a:t>
            </a:r>
            <a:r>
              <a:rPr lang="en-IN" sz="2400" dirty="0"/>
              <a:t> – Evaluate grant requirements and highlight matched and missing criteria. </a:t>
            </a:r>
          </a:p>
          <a:p>
            <a:r>
              <a:rPr lang="en-IN" sz="2400" b="1" dirty="0"/>
              <a:t>Generate Funding Proposals</a:t>
            </a:r>
            <a:r>
              <a:rPr lang="en-IN" sz="2400" dirty="0"/>
              <a:t> – Create customized, structured proposals for grant applications. </a:t>
            </a:r>
          </a:p>
          <a:p>
            <a:r>
              <a:rPr lang="en-IN" sz="2400" b="1" dirty="0"/>
              <a:t>Provide Interactive Dashboard</a:t>
            </a:r>
            <a:r>
              <a:rPr lang="en-IN" sz="2400" dirty="0"/>
              <a:t> – Display grant recommendations, eligibility scores, and AI-generated proposals in a user-friendly interface.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5"/>
          <p:cNvSpPr txBox="1"/>
          <p:nvPr/>
        </p:nvSpPr>
        <p:spPr>
          <a:xfrm>
            <a:off x="576072" y="704088"/>
            <a:ext cx="72146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 -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6"/>
          <p:cNvSpPr txBox="1"/>
          <p:nvPr/>
        </p:nvSpPr>
        <p:spPr>
          <a:xfrm>
            <a:off x="777240" y="484632"/>
            <a:ext cx="712317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6"/>
          <p:cNvSpPr txBox="1"/>
          <p:nvPr/>
        </p:nvSpPr>
        <p:spPr>
          <a:xfrm>
            <a:off x="777240" y="1207008"/>
            <a:ext cx="10515600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400" b="1" dirty="0"/>
              <a:t>IBM watsonx.ai</a:t>
            </a:r>
            <a:r>
              <a:rPr lang="en-IN" sz="2400" dirty="0"/>
              <a:t> – For foundation model access, AI inference, natural language understanding, reasoning, and generating personalized funding insights.</a:t>
            </a:r>
          </a:p>
          <a:p>
            <a:r>
              <a:rPr lang="en-IN" sz="2400" b="1" dirty="0"/>
              <a:t>Meta Llama Model</a:t>
            </a:r>
            <a:r>
              <a:rPr lang="en-IN" sz="2400" dirty="0"/>
              <a:t> – For understanding startup information, grant analysis, reasoning, and AI-powered proposal generation.</a:t>
            </a:r>
          </a:p>
          <a:p>
            <a:r>
              <a:rPr lang="en-IN" sz="2400" b="1" dirty="0"/>
              <a:t>IBM Cloud</a:t>
            </a:r>
            <a:r>
              <a:rPr lang="en-IN" sz="2400" dirty="0"/>
              <a:t> – Provides a secure and scalable infrastructure for deploying and managing the Agentic AI application.</a:t>
            </a:r>
          </a:p>
          <a:p>
            <a:r>
              <a:rPr lang="en-IN" sz="2400" b="1" dirty="0"/>
              <a:t>IBM Cloud Object Storage</a:t>
            </a:r>
            <a:r>
              <a:rPr lang="en-IN" sz="2400" dirty="0"/>
              <a:t> – Used for secure storage and management of startup documents and project resources.</a:t>
            </a:r>
          </a:p>
          <a:p>
            <a:r>
              <a:rPr lang="en-IN" sz="2400" b="1" dirty="0"/>
              <a:t>RAG (Retrieval Augmented Generation)</a:t>
            </a:r>
            <a:r>
              <a:rPr lang="en-IN" sz="2400" dirty="0"/>
              <a:t> – Enables retrieval of relevant grant information before generating responses, improving accuracy and reliability.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00440-1398-6611-7DFE-4FD391E52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77327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b="1" dirty="0" err="1"/>
              <a:t>FastAPI</a:t>
            </a:r>
            <a:r>
              <a:rPr lang="en-IN" sz="2400" dirty="0"/>
              <a:t> – Backend framework for building APIs and managing the multi-agent workflow.</a:t>
            </a:r>
          </a:p>
          <a:p>
            <a:r>
              <a:rPr lang="en-IN" sz="2400" b="1" dirty="0"/>
              <a:t>React.js + Vite</a:t>
            </a:r>
            <a:r>
              <a:rPr lang="en-IN" sz="2400" dirty="0"/>
              <a:t> – Used to develop an interactive dashboard for displaying startup profiles, grant recommendations, eligibility analysis, and proposals.</a:t>
            </a:r>
          </a:p>
          <a:p>
            <a:r>
              <a:rPr lang="en-IN" sz="2400" b="1" dirty="0"/>
              <a:t>Multi-Agent Architecture</a:t>
            </a:r>
            <a:r>
              <a:rPr lang="en-IN" sz="2400" dirty="0"/>
              <a:t> – Enables collaboration between specialized agents for profile extraction, grant recommendation, eligibility verification, and proposal generation.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79803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/>
        </p:nvSpPr>
        <p:spPr>
          <a:xfrm>
            <a:off x="475488" y="283464"/>
            <a:ext cx="931773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 of Agentic AI in the solution 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621792" y="1167493"/>
            <a:ext cx="9317736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400" b="1" dirty="0"/>
              <a:t>Autonomous Decision Making</a:t>
            </a:r>
            <a:r>
              <a:rPr lang="en-IN" sz="2400" dirty="0"/>
              <a:t> – AI agents </a:t>
            </a:r>
            <a:r>
              <a:rPr lang="en-IN" sz="2400" dirty="0" err="1"/>
              <a:t>analyze</a:t>
            </a:r>
            <a:r>
              <a:rPr lang="en-IN" sz="2400" dirty="0"/>
              <a:t> startup information and make intelligent funding recommendations.</a:t>
            </a:r>
          </a:p>
          <a:p>
            <a:pPr lvl="0"/>
            <a:r>
              <a:rPr lang="en-IN" sz="2400" b="1" dirty="0"/>
              <a:t>Multi-Agent Collaboration</a:t>
            </a:r>
            <a:r>
              <a:rPr lang="en-IN" sz="2400" dirty="0"/>
              <a:t> – Specialized agents work together for profile extraction, grant recommendation, eligibility verification, and proposal generation. </a:t>
            </a:r>
          </a:p>
          <a:p>
            <a:pPr lvl="0"/>
            <a:r>
              <a:rPr lang="en-IN" sz="2400" b="1" dirty="0"/>
              <a:t>Automated Reasoning</a:t>
            </a:r>
            <a:r>
              <a:rPr lang="en-IN" sz="2400" dirty="0"/>
              <a:t> – Agents evaluate grant requirements and identify suitable opportunities. </a:t>
            </a:r>
          </a:p>
          <a:p>
            <a:pPr lvl="0"/>
            <a:r>
              <a:rPr lang="en-IN" sz="2400" b="1" dirty="0"/>
              <a:t>Personalized Assistance</a:t>
            </a:r>
            <a:r>
              <a:rPr lang="en-IN" sz="2400" dirty="0"/>
              <a:t> – Generates customized funding proposals based on startup needs. </a:t>
            </a:r>
          </a:p>
          <a:p>
            <a:pPr lvl="0"/>
            <a:r>
              <a:rPr lang="en-IN" sz="2400" b="1" dirty="0"/>
              <a:t>End-to-End Workflow Automation</a:t>
            </a:r>
            <a:r>
              <a:rPr lang="en-IN" sz="2400" dirty="0"/>
              <a:t> – Reduces manual effort by automating the complete grant application preparation process.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9"/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 Usage 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9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9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39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8A0025-AA88-617D-05FA-13FE46B6D9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96" t="16558" r="48096"/>
          <a:stretch>
            <a:fillRect/>
          </a:stretch>
        </p:blipFill>
        <p:spPr>
          <a:xfrm>
            <a:off x="793192" y="2165684"/>
            <a:ext cx="4760971" cy="3936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826011-EAB8-6758-339C-269058918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399" y="2150306"/>
            <a:ext cx="4760971" cy="3764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81AE31-C0D3-7032-EECE-450986A3B76F}"/>
              </a:ext>
            </a:extLst>
          </p:cNvPr>
          <p:cNvSpPr txBox="1"/>
          <p:nvPr/>
        </p:nvSpPr>
        <p:spPr>
          <a:xfrm>
            <a:off x="1218724" y="1636295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Before prompt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066C6-9590-DEB6-5CE2-22727DDD5351}"/>
              </a:ext>
            </a:extLst>
          </p:cNvPr>
          <p:cNvSpPr txBox="1"/>
          <p:nvPr/>
        </p:nvSpPr>
        <p:spPr>
          <a:xfrm>
            <a:off x="6936898" y="1611390"/>
            <a:ext cx="2495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After prompt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F37E-EB66-EFBA-916D-803B60D8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8427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rial "/>
              </a:rPr>
              <a:t>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B3846-BAA5-7BA2-4899-4AAE37FB9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53" y="1318555"/>
            <a:ext cx="10435693" cy="5174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DF5554-1635-516C-A17E-E0DE758F0BB9}"/>
              </a:ext>
            </a:extLst>
          </p:cNvPr>
          <p:cNvSpPr txBox="1"/>
          <p:nvPr/>
        </p:nvSpPr>
        <p:spPr>
          <a:xfrm>
            <a:off x="838200" y="856890"/>
            <a:ext cx="4076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User input</a:t>
            </a:r>
          </a:p>
        </p:txBody>
      </p:sp>
    </p:spTree>
    <p:extLst>
      <p:ext uri="{BB962C8B-B14F-4D97-AF65-F5344CB8AC3E}">
        <p14:creationId xmlns:p14="http://schemas.microsoft.com/office/powerpoint/2010/main" val="599695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63F262-8250-EED8-B0A1-654D762B0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98" y="732220"/>
            <a:ext cx="11059403" cy="53935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9CA926-56E9-93E6-CA93-F14D43BD8D92}"/>
              </a:ext>
            </a:extLst>
          </p:cNvPr>
          <p:cNvSpPr txBox="1"/>
          <p:nvPr/>
        </p:nvSpPr>
        <p:spPr>
          <a:xfrm>
            <a:off x="566298" y="143740"/>
            <a:ext cx="4263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Startup Agent</a:t>
            </a:r>
          </a:p>
        </p:txBody>
      </p:sp>
    </p:spTree>
    <p:extLst>
      <p:ext uri="{BB962C8B-B14F-4D97-AF65-F5344CB8AC3E}">
        <p14:creationId xmlns:p14="http://schemas.microsoft.com/office/powerpoint/2010/main" val="82179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60C1D8-097A-6339-17BE-D88F81D6C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25" y="701535"/>
            <a:ext cx="8750750" cy="5454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7BC5A1-E5B3-106A-D784-C1D0DA86942E}"/>
              </a:ext>
            </a:extLst>
          </p:cNvPr>
          <p:cNvSpPr txBox="1"/>
          <p:nvPr/>
        </p:nvSpPr>
        <p:spPr>
          <a:xfrm>
            <a:off x="738130" y="385590"/>
            <a:ext cx="4043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Grant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735693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670811-5446-1649-923E-DA383427D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45" y="920621"/>
            <a:ext cx="8934909" cy="50167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D36513-A485-27A8-61B4-D1FEB84467BF}"/>
              </a:ext>
            </a:extLst>
          </p:cNvPr>
          <p:cNvSpPr txBox="1"/>
          <p:nvPr/>
        </p:nvSpPr>
        <p:spPr>
          <a:xfrm>
            <a:off x="837282" y="407624"/>
            <a:ext cx="3690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Eligibility check</a:t>
            </a:r>
          </a:p>
        </p:txBody>
      </p:sp>
    </p:spTree>
    <p:extLst>
      <p:ext uri="{BB962C8B-B14F-4D97-AF65-F5344CB8AC3E}">
        <p14:creationId xmlns:p14="http://schemas.microsoft.com/office/powerpoint/2010/main" val="2168284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31DF26-E129-254E-38C0-E4C23A4AE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860" y="790439"/>
            <a:ext cx="9322279" cy="52771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EE424C-F146-4A1B-9BAD-F2B7E04CD997}"/>
              </a:ext>
            </a:extLst>
          </p:cNvPr>
          <p:cNvSpPr txBox="1"/>
          <p:nvPr/>
        </p:nvSpPr>
        <p:spPr>
          <a:xfrm>
            <a:off x="1434860" y="374573"/>
            <a:ext cx="5615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Proposal Agent</a:t>
            </a:r>
          </a:p>
        </p:txBody>
      </p:sp>
    </p:spTree>
    <p:extLst>
      <p:ext uri="{BB962C8B-B14F-4D97-AF65-F5344CB8AC3E}">
        <p14:creationId xmlns:p14="http://schemas.microsoft.com/office/powerpoint/2010/main" val="4270637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9848F1-D5E2-464E-EFCA-64F9A75D8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09" y="568178"/>
            <a:ext cx="10331981" cy="57216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E3640E-F645-E8F1-D9B1-9CA5F3A92A43}"/>
              </a:ext>
            </a:extLst>
          </p:cNvPr>
          <p:cNvSpPr txBox="1"/>
          <p:nvPr/>
        </p:nvSpPr>
        <p:spPr>
          <a:xfrm>
            <a:off x="605928" y="152679"/>
            <a:ext cx="4494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Proposal download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95163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0"/>
          <p:cNvSpPr txBox="1"/>
          <p:nvPr/>
        </p:nvSpPr>
        <p:spPr>
          <a:xfrm>
            <a:off x="777240" y="484632"/>
            <a:ext cx="712317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Novelty and Uniqueness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0"/>
          <p:cNvSpPr txBox="1"/>
          <p:nvPr/>
        </p:nvSpPr>
        <p:spPr>
          <a:xfrm>
            <a:off x="777240" y="1207008"/>
            <a:ext cx="9501497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Agentic AI Workflow</a:t>
            </a:r>
            <a:r>
              <a:rPr lang="en-IN" sz="2400" dirty="0"/>
              <a:t> – Multiple AI agents collaborate for profile analysis, grant matching, eligibility checking, and proposal generation.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End-to-End Funding Assistant</a:t>
            </a:r>
            <a:r>
              <a:rPr lang="en-IN" sz="2400" dirty="0"/>
              <a:t> – Automates the complete grant discovery and application preparation process.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Intelligent Grant Matching</a:t>
            </a:r>
            <a:r>
              <a:rPr lang="en-IN" sz="2400" dirty="0"/>
              <a:t> – Recommends grants based on startup domain, stage, technology, and funding needs.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AI-Based Eligibility Analysis</a:t>
            </a:r>
            <a:r>
              <a:rPr lang="en-IN" sz="2400" dirty="0"/>
              <a:t> – Identifies eligibility status, missing requirements, and improvement suggestions.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IBM watsonx.ai Integration</a:t>
            </a:r>
            <a:r>
              <a:rPr lang="en-IN" sz="2400" dirty="0"/>
              <a:t> – Uses enterprise-grade foundation models for intelligent decision support.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1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Hub Link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1"/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41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41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41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79D56-D204-CFA0-0653-25170C6E516E}"/>
              </a:ext>
            </a:extLst>
          </p:cNvPr>
          <p:cNvSpPr txBox="1"/>
          <p:nvPr/>
        </p:nvSpPr>
        <p:spPr>
          <a:xfrm>
            <a:off x="1392054" y="1542599"/>
            <a:ext cx="7751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hlinkClick r:id="rId3"/>
              </a:rPr>
              <a:t>https://github.com/pragna100510/GrantGenie-AI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7FD5C-56D7-3347-6111-CCB45F3F7E71}"/>
              </a:ext>
            </a:extLst>
          </p:cNvPr>
          <p:cNvSpPr txBox="1"/>
          <p:nvPr/>
        </p:nvSpPr>
        <p:spPr>
          <a:xfrm>
            <a:off x="1099778" y="2610659"/>
            <a:ext cx="987349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Deployment Links</a:t>
            </a:r>
          </a:p>
          <a:p>
            <a:endParaRPr lang="en-IN" sz="2400" b="1" dirty="0"/>
          </a:p>
          <a:p>
            <a:r>
              <a:rPr lang="en-IN" sz="2400" b="1" dirty="0"/>
              <a:t>Frontend Application:</a:t>
            </a:r>
            <a:br>
              <a:rPr lang="en-IN" sz="2400" dirty="0"/>
            </a:br>
            <a:r>
              <a:rPr lang="en-IN" sz="2400" dirty="0"/>
              <a:t>   </a:t>
            </a:r>
            <a:r>
              <a:rPr lang="en-IN" sz="2400" dirty="0">
                <a:hlinkClick r:id="rId4"/>
              </a:rPr>
              <a:t>https://grant-genie-ai-lovat.vercel.app</a:t>
            </a:r>
            <a:endParaRPr lang="en-IN" sz="2400" dirty="0"/>
          </a:p>
          <a:p>
            <a:endParaRPr lang="en-IN" sz="2400" dirty="0"/>
          </a:p>
          <a:p>
            <a:r>
              <a:rPr lang="en-IN" sz="2400" b="1" dirty="0"/>
              <a:t>Backend API:</a:t>
            </a:r>
            <a:br>
              <a:rPr lang="en-IN" sz="2400" dirty="0"/>
            </a:br>
            <a:r>
              <a:rPr lang="en-IN" sz="2400" dirty="0"/>
              <a:t>   </a:t>
            </a:r>
            <a:r>
              <a:rPr lang="en-IN" sz="2400" dirty="0">
                <a:hlinkClick r:id="rId5"/>
              </a:rPr>
              <a:t>https://grantgenie-ai-backend.onrender.com</a:t>
            </a:r>
            <a:endParaRPr lang="en-IN" sz="2400" dirty="0"/>
          </a:p>
          <a:p>
            <a:endParaRPr lang="en-IN" sz="2400" dirty="0"/>
          </a:p>
          <a:p>
            <a:r>
              <a:rPr lang="en-IN" sz="2400" b="1" dirty="0"/>
              <a:t>API Documentation:</a:t>
            </a:r>
            <a:br>
              <a:rPr lang="en-IN" sz="2400" dirty="0"/>
            </a:br>
            <a:r>
              <a:rPr lang="en-IN" sz="2400" dirty="0"/>
              <a:t>   </a:t>
            </a:r>
            <a:r>
              <a:rPr lang="en-IN" sz="2400" dirty="0">
                <a:hlinkClick r:id="rId6"/>
              </a:rPr>
              <a:t>https://grantgenie-ai-backend.onrender.com/docs</a:t>
            </a:r>
            <a:endParaRPr lang="en-IN" sz="2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2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Scope 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2"/>
          <p:cNvSpPr/>
          <p:nvPr/>
        </p:nvSpPr>
        <p:spPr>
          <a:xfrm>
            <a:off x="1218723" y="1221715"/>
            <a:ext cx="10415089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400" b="1" dirty="0"/>
              <a:t>Autonomous Grant Discovery Agent</a:t>
            </a:r>
            <a:br>
              <a:rPr lang="en-IN" sz="2400" dirty="0"/>
            </a:br>
            <a:r>
              <a:rPr lang="en-IN" sz="2400" dirty="0"/>
              <a:t>Automatically discover and update new funding opportunities. </a:t>
            </a:r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400" b="1" dirty="0"/>
              <a:t>AI-Powered Document Intelligence</a:t>
            </a:r>
            <a:br>
              <a:rPr lang="en-IN" sz="2400" dirty="0"/>
            </a:br>
            <a:r>
              <a:rPr lang="en-IN" sz="2400" dirty="0" err="1"/>
              <a:t>Analyze</a:t>
            </a:r>
            <a:r>
              <a:rPr lang="en-IN" sz="2400" dirty="0"/>
              <a:t> startup documents and verify eligibility requirements. </a:t>
            </a:r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400" b="1" dirty="0"/>
              <a:t>Advanced Multi-Agent Workflow</a:t>
            </a:r>
            <a:br>
              <a:rPr lang="en-IN" sz="2400" dirty="0"/>
            </a:br>
            <a:r>
              <a:rPr lang="en-IN" sz="2400" dirty="0"/>
              <a:t>Add specialized agents for market research, financial planning, and compliance verification. </a:t>
            </a:r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400" dirty="0"/>
              <a:t> </a:t>
            </a:r>
            <a:r>
              <a:rPr lang="en-IN" sz="2400" b="1" dirty="0"/>
              <a:t>Automated Application Assistance</a:t>
            </a:r>
            <a:br>
              <a:rPr lang="en-IN" sz="2400" dirty="0"/>
            </a:br>
            <a:r>
              <a:rPr lang="en-IN" sz="2400" dirty="0"/>
              <a:t>Generate application forms, pitch documents, and supporting materials.</a:t>
            </a:r>
          </a:p>
          <a:p>
            <a:pPr marL="342900" lvl="0" indent="-342900"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400" b="1" dirty="0"/>
              <a:t>Scalable IBM Cloud Integration</a:t>
            </a:r>
            <a:br>
              <a:rPr lang="en-IN" sz="2400" dirty="0"/>
            </a:br>
            <a:r>
              <a:rPr lang="en-IN" sz="2400" dirty="0"/>
              <a:t>Expand deployment using IBM Code Engine, Cloud Object Storage, and watsonx.ai.</a:t>
            </a:r>
            <a:endParaRPr sz="2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42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/>
        </p:nvSpPr>
        <p:spPr>
          <a:xfrm>
            <a:off x="327949" y="207380"/>
            <a:ext cx="609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endParaRPr sz="2800"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3"/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/>
              <a:t>C</a:t>
            </a:r>
            <a:r>
              <a:rPr lang="en-US" sz="28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redly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certificate 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2CE4F-B29E-5C6E-4609-42A1FFD5D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737" y="1357809"/>
            <a:ext cx="6389965" cy="48272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940ED1-127B-BB08-9F42-38F5A7601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777" y="740228"/>
            <a:ext cx="6713773" cy="50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00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92D34F-E2C8-A09A-5F27-C4E55A999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948" y="1054256"/>
            <a:ext cx="6534337" cy="493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65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/>
        </p:nvSpPr>
        <p:spPr>
          <a:xfrm>
            <a:off x="176696" y="226391"/>
            <a:ext cx="6096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Certificates Earned: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4"/>
          <p:cNvSpPr txBox="1"/>
          <p:nvPr/>
        </p:nvSpPr>
        <p:spPr>
          <a:xfrm>
            <a:off x="496843" y="800470"/>
            <a:ext cx="543768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BOB Certificate</a:t>
            </a: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62F76F-B150-1BFF-8D6A-BBB942BE6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306" y="1409091"/>
            <a:ext cx="7512436" cy="464843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798</Words>
  <Application>Microsoft Office PowerPoint</Application>
  <PresentationFormat>Widescreen</PresentationFormat>
  <Paragraphs>94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Manda Anirudh</dc:creator>
  <cp:lastModifiedBy>Pragna Samudrala</cp:lastModifiedBy>
  <cp:revision>2</cp:revision>
  <dcterms:created xsi:type="dcterms:W3CDTF">2025-07-08T05:06:56Z</dcterms:created>
  <dcterms:modified xsi:type="dcterms:W3CDTF">2026-07-15T20:15:39Z</dcterms:modified>
</cp:coreProperties>
</file>